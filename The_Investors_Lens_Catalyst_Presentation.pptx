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000000"/>
                </a:solidFill>
              </a:defRPr>
            </a:pPr>
            <a:r>
              <a:t>The Investor's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0000"/>
                </a:solidFill>
              </a:defRPr>
            </a:pPr>
            <a:r>
              <a:t>An S-1 Prospectus Exercise for Law Firm Owners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333333"/>
                </a:solidFill>
              </a:defRPr>
            </a:pPr>
            <a:r>
              <a:t>How to Evaluate Your Firm Through the Eyes of an Investor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Law Firm Alchemy LLC  |  Catalyst Coaching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00000"/>
                </a:solidFill>
              </a:defRPr>
            </a:pPr>
            <a:r>
              <a:t>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0000"/>
                </a:solidFill>
              </a:defRPr>
            </a:pPr>
            <a:r>
              <a:t>What if you had to convince an investor</a:t>
            </a:r>
            <a:br/>
            <a:r>
              <a:t>to put money into your law firm?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333333"/>
                </a:solidFill>
              </a:defRPr>
            </a:pPr>
            <a:r>
              <a:t>The S-1 prospectus is the document every public company files with the SEC. It forces radical transparency: who you are, how you make money, what the risks are, and where you're headed.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333333"/>
                </a:solidFill>
              </a:defRPr>
            </a:pPr>
            <a:r>
              <a:t>This exercise walks you through nine sections of a simulated S-1, adapted for law firm owners. It's not about going public. It's about thinking like an investor thinks about your business.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00000"/>
                </a:solidFill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600" b="0">
                <a:solidFill>
                  <a:srgbClr val="000000"/>
                </a:solidFill>
              </a:defRPr>
            </a:pPr>
            <a:r>
              <a:t>Most firm owners have never been forced to describe their business this way</a:t>
            </a:r>
          </a:p>
          <a:p>
            <a:pPr>
              <a:spcAft>
                <a:spcPts val="2000"/>
              </a:spcAft>
              <a:defRPr sz="2600" b="0">
                <a:solidFill>
                  <a:srgbClr val="000000"/>
                </a:solidFill>
              </a:defRPr>
            </a:pPr>
            <a:r>
              <a:t>Investors look at businesses differently than operators do</a:t>
            </a:r>
          </a:p>
          <a:p>
            <a:pPr>
              <a:spcAft>
                <a:spcPts val="2000"/>
              </a:spcAft>
              <a:defRPr sz="2600" b="0">
                <a:solidFill>
                  <a:srgbClr val="000000"/>
                </a:solidFill>
              </a:defRPr>
            </a:pPr>
            <a:r>
              <a:t>This framework reveals blind spots you didn't know you had</a:t>
            </a:r>
          </a:p>
          <a:p>
            <a:pPr>
              <a:spcAft>
                <a:spcPts val="2000"/>
              </a:spcAft>
              <a:defRPr sz="2600" b="0">
                <a:solidFill>
                  <a:srgbClr val="000000"/>
                </a:solidFill>
              </a:defRPr>
            </a:pPr>
            <a:r>
              <a:t>Whether you plan to sell, scale, or stay — this clarity changes how you make decisions</a:t>
            </a:r>
          </a:p>
          <a:p>
            <a:pPr>
              <a:spcAft>
                <a:spcPts val="2000"/>
              </a:spcAft>
              <a:defRPr sz="2600" b="0">
                <a:solidFill>
                  <a:srgbClr val="000000"/>
                </a:solidFill>
              </a:defRPr>
            </a:pPr>
            <a:r>
              <a:t>It turns "I think my firm is doing fine" into "I know exactly where I stand"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</a:defRPr>
            </a:pPr>
            <a:r>
              <a:t>Nine Lenses. One Complete Picture.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A6EBD"/>
                </a:solidFill>
              </a:rPr>
              <a:t>Module 1: </a:t>
            </a:r>
            <a:r>
              <a:rPr sz="2000" b="1">
                <a:solidFill>
                  <a:srgbClr val="000000"/>
                </a:solidFill>
              </a:rPr>
              <a:t>Prospectus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The Elevator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A6EBD"/>
                </a:solidFill>
              </a:rPr>
              <a:t>Module 2: </a:t>
            </a:r>
            <a:r>
              <a:rPr sz="2000" b="1">
                <a:solidFill>
                  <a:srgbClr val="000000"/>
                </a:solidFill>
              </a:rPr>
              <a:t>Risk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What Keeps You Up at 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A6EBD"/>
                </a:solidFill>
              </a:rPr>
              <a:t>Module 3: </a:t>
            </a:r>
            <a:r>
              <a:rPr sz="2000" b="1">
                <a:solidFill>
                  <a:srgbClr val="000000"/>
                </a:solidFill>
              </a:rPr>
              <a:t>Use of Proceeds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If You Had Capital Tomorrow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A6EBD"/>
                </a:solidFill>
              </a:rPr>
              <a:t>Module 4: </a:t>
            </a:r>
            <a:r>
              <a:rPr sz="2000" b="1">
                <a:solidFill>
                  <a:srgbClr val="000000"/>
                </a:solidFill>
              </a:rPr>
              <a:t>Market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The 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A6EBD"/>
                </a:solidFill>
              </a:rPr>
              <a:t>Module 5: </a:t>
            </a:r>
            <a:r>
              <a:rPr sz="2000" b="1">
                <a:solidFill>
                  <a:srgbClr val="000000"/>
                </a:solidFill>
              </a:rPr>
              <a:t>Business 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How the Machine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A6EBD"/>
                </a:solidFill>
              </a:rPr>
              <a:t>Module 6: </a:t>
            </a:r>
            <a:r>
              <a:rPr sz="2000" b="1">
                <a:solidFill>
                  <a:srgbClr val="000000"/>
                </a:solidFill>
              </a:rPr>
              <a:t>MD&amp;A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The Financial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06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A6EBD"/>
                </a:solidFill>
              </a:rPr>
              <a:t>Module 7: </a:t>
            </a:r>
            <a:r>
              <a:rPr sz="2000" b="1">
                <a:solidFill>
                  <a:srgbClr val="000000"/>
                </a:solidFill>
              </a:rPr>
              <a:t>Management &amp;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The Leadership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A6EBD"/>
                </a:solidFill>
              </a:rPr>
              <a:t>Module 8: </a:t>
            </a:r>
            <a:r>
              <a:rPr sz="2000" b="1">
                <a:solidFill>
                  <a:srgbClr val="000000"/>
                </a:solidFill>
              </a:rPr>
              <a:t>Capitalization &amp; Equity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Who Owns What and Why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526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A6EBD"/>
                </a:solidFill>
              </a:rPr>
              <a:t>Module 9: </a:t>
            </a:r>
            <a:r>
              <a:rPr sz="2000" b="1">
                <a:solidFill>
                  <a:srgbClr val="000000"/>
                </a:solidFill>
              </a:rPr>
              <a:t>Financial Statements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The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Scorecard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852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Your Investment Readiness Rating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55555"/>
                </a:solidFill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</a:defRPr>
            </a:pPr>
            <a:r>
              <a:t>Prospectus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555555"/>
                </a:solidFill>
              </a:defRPr>
            </a:pPr>
            <a:r>
              <a:t>The Elevator Pitch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515600" cy="25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The Investor Asks: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0000"/>
                </a:solidFill>
              </a:defRPr>
            </a:pPr>
            <a:r>
              <a:t>“Can I understand what this firm does, who it serves, and why it wins — in under two minutes?”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Key Exercises: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Write your firm overview in 3-4 sentences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Define your one-sentence value proposition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Fill in your Key Metrics Snapshot (revenue, clients, retention, etc.)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Craft your 90-Second Elevator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A6EBD"/>
                </a:solidFill>
              </a:defRPr>
            </a:pPr>
            <a:r>
              <a:t>TEACHING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</a:defRPr>
            </a:pPr>
            <a:r>
              <a:t>If you can't explain your firm clearly and concisely, neither can your clients, your referral sources, or a potential buyer.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55555"/>
                </a:solidFill>
              </a:defRPr>
            </a:pPr>
            <a: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</a:defRPr>
            </a:pPr>
            <a:r>
              <a:t>Risk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555555"/>
                </a:solidFill>
              </a:defRPr>
            </a:pPr>
            <a:r>
              <a:t>What Keeps You Up at Night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515600" cy="25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The Investor Asks: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0000"/>
                </a:solidFill>
              </a:defRPr>
            </a:pPr>
            <a:r>
              <a:t>“Does the owner know what could break this business? And do they have a plan for it?”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Key Exercises: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Analyze client concentration (top 3 clients' % of revenue)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Answer: If you couldn't work for 90 days, what happens?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Complete the 12-item Risk Checklist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Identify your Top 3 Risks and write mitigation plans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A6EBD"/>
                </a:solidFill>
              </a:defRPr>
            </a:pPr>
            <a:r>
              <a:t>TEACHING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</a:defRPr>
            </a:pPr>
            <a:r>
              <a:t>Investors don't expect perfection. They expect awareness. The worst risk is the one you haven't identified.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55555"/>
                </a:solidFill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</a:defRPr>
            </a:pPr>
            <a:r>
              <a:t>Use of Proceeds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555555"/>
                </a:solidFill>
              </a:defRPr>
            </a:pPr>
            <a:r>
              <a:t>If You Had Capital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515600" cy="25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The Investor Asks: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0000"/>
                </a:solidFill>
              </a:defRPr>
            </a:pPr>
            <a:r>
              <a:t>“Does this owner have a capital allocation strategy, or are they just covering overhead?”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Key Exercises: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Allocate a hypothetical $500K in growth capital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Break down each investment: amount, expected return, timeline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Name the investment you've been putting off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Examine your reinvestment rate (profit reinvested vs. distributed)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A6EBD"/>
                </a:solidFill>
              </a:defRPr>
            </a:pPr>
            <a:r>
              <a:t>TEACHING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</a:defRPr>
            </a:pPr>
            <a:r>
              <a:t>Your answer to 'What would you do with more capital?' reveals whether you have a growth strategy or just a wish list.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55555"/>
                </a:solidFill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555555"/>
                </a:solidFill>
              </a:defRPr>
            </a:pPr>
            <a:r>
              <a:t>The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515600" cy="25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The Investor Asks: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0000"/>
                </a:solidFill>
              </a:defRPr>
            </a:pPr>
            <a:r>
              <a:t>“Is this firm in a growing market? Does the owner understand the competitive dynamics?”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Key Exercises: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Define your addressable market (geography, demographics, size)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Analyze market trends (growing, stable, or shrinking?)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Map your competitive landscape (5 competitors, strengths/weaknesses)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Identify your growth vectors and disruption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A6EBD"/>
                </a:solidFill>
              </a:defRPr>
            </a:pPr>
            <a:r>
              <a:t>TEACHING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</a:defRPr>
            </a:pPr>
            <a:r>
              <a:t>Most firm owners have never done a real competitive analysis. They know their competitors exist but haven't studied why clients choose one over another.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55555"/>
                </a:solidFill>
              </a:defRPr>
            </a:pPr>
            <a: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</a:defRPr>
            </a:pPr>
            <a:r>
              <a:t>Business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555555"/>
                </a:solidFill>
              </a:defRPr>
            </a:pPr>
            <a:r>
              <a:t>How the Machine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515600" cy="25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The Investor Asks: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0000"/>
                </a:solidFill>
              </a:defRPr>
            </a:pPr>
            <a:r>
              <a:t>“Is this a real business with repeatable processes, or just a talented person with a bar license?”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Key Exercises: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Break down your revenue model (hourly, flat fee, contingency, etc.)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Rank your top 3 client acquisition channels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Calculate your cost to acquire a new client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Define your moat — what's defensible about your firm?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Document your matter workflow from intake to 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A6EBD"/>
                </a:solidFill>
              </a:defRPr>
            </a:pPr>
            <a:r>
              <a:t>TEACHING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</a:defRPr>
            </a:pPr>
            <a:r>
              <a:t>There's a difference between a practice and a business. A business has systems that work without you in every seat.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55555"/>
                </a:solidFill>
              </a:defRPr>
            </a:pPr>
            <a: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</a:defRPr>
            </a:pPr>
            <a:r>
              <a:t>MD&amp;A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555555"/>
                </a:solidFill>
              </a:defRPr>
            </a:pPr>
            <a:r>
              <a:t>The Financial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515600" cy="25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The Investor Asks: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0000"/>
                </a:solidFill>
              </a:defRPr>
            </a:pPr>
            <a:r>
              <a:t>“Does the owner actually understand the financial dynamics of their own firm?”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Key Exercises: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Describe your revenue trajectory over 2-3 years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Fill in financial metrics: revenue, expenses, profit margins, ratios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Articulate your profitability after reasonable owner compensation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Give an honest assessment: what would concern a financial analyst?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A6EBD"/>
                </a:solidFill>
              </a:defRPr>
            </a:pPr>
            <a:r>
              <a:t>TEACHING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</a:defRPr>
            </a:pPr>
            <a:r>
              <a:t>Numbers without narrative are just data. MD&amp;A is about understanding the story your financials tell — and whether you're the one writing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55555"/>
                </a:solidFill>
              </a:defRPr>
            </a:pPr>
            <a:r>
              <a:t>MODULE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</a:defRPr>
            </a:pPr>
            <a:r>
              <a:t>Management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555555"/>
                </a:solidFill>
              </a:defRPr>
            </a:pPr>
            <a:r>
              <a:t>The Leadership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515600" cy="25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The Investor Asks: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0000"/>
                </a:solidFill>
              </a:defRPr>
            </a:pPr>
            <a:r>
              <a:t>“Is there a team here, or just a founder? What happens if the founder gets hit by a bus?”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Key Exercises: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Map your leadership team (names, tenure, strengths, gaps)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Describe how decisions actually get made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List your outside advisory resources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Write your succession plan — or acknowledge you don't have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A6EBD"/>
                </a:solidFill>
              </a:defRPr>
            </a:pPr>
            <a:r>
              <a:t>TEACHING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</a:defRPr>
            </a:pPr>
            <a:r>
              <a:t>Investors bet on jockeys, not horses. But a one-jockey operation is a liability, not an asset.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55555"/>
                </a:solidFill>
              </a:defRPr>
            </a:pPr>
            <a:r>
              <a:t>MODULE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</a:defRPr>
            </a:pPr>
            <a:r>
              <a:t>Capitalization &amp; Equity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555555"/>
                </a:solidFill>
              </a:defRPr>
            </a:pPr>
            <a:r>
              <a:t>Who Owns What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515600" cy="25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The Investor Asks: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0000"/>
                </a:solidFill>
              </a:defRPr>
            </a:pPr>
            <a:r>
              <a:t>“Is ownership structured in a way that aligns incentives and enables transitions?”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Key Exercises: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Document your ownership structure and entity type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Describe how profits are distributed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Outline buy-in/buy-out terms (or acknowledge they don't exist)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Estimate your firm's value — separate from your personal earning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A6EBD"/>
                </a:solidFill>
              </a:defRPr>
            </a:pPr>
            <a:r>
              <a:t>TEACHING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</a:defRPr>
            </a:pPr>
            <a:r>
              <a:t>"No idea" is one of the most important answers this exercise can reveal. If you don't know what your firm is worth without you, you need to find 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55555"/>
                </a:solidFill>
              </a:defRPr>
            </a:pPr>
            <a:r>
              <a:t>MODULE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</a:defRPr>
            </a:pPr>
            <a:r>
              <a:t>Financial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555555"/>
                </a:solidFill>
              </a:defRPr>
            </a:pPr>
            <a:r>
              <a:t>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515600" cy="25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The Investor Asks: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00000"/>
                </a:solidFill>
              </a:defRPr>
            </a:pPr>
            <a:r>
              <a:t>“Show me the numbers. Not the story — the actual numbers.”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6EBD"/>
                </a:solidFill>
              </a:defRPr>
            </a:pPr>
            <a:r>
              <a:t>Key Exercises: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Complete a simplified Income Statement (current + prior year)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Fill in a Balance Sheet Snapshot (cash, AR, debt)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Calculate Key Ratios (overhead, profit margin, realization, collection)</a:t>
            </a:r>
          </a:p>
          <a:p>
            <a:pPr>
              <a:spcAft>
                <a:spcPts val="1000"/>
              </a:spcAft>
              <a:defRPr sz="1800" b="0">
                <a:solidFill>
                  <a:srgbClr val="000000"/>
                </a:solidFill>
              </a:defRPr>
            </a:pPr>
            <a:r>
              <a:t>•  Compare your numbers against industry benchmarks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A6EBD"/>
                </a:solidFill>
              </a:defRPr>
            </a:pPr>
            <a:r>
              <a:t>TEACHING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</a:defRPr>
            </a:pPr>
            <a:r>
              <a:t>Many owners have never assembled their core financial data in one place. This exercise alone can be transformative.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</a:defRPr>
            </a:pPr>
            <a:r>
              <a:t>The Investor Readiness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555555"/>
                </a:solidFill>
              </a:defRPr>
            </a:pPr>
            <a:r>
              <a:t>Rate your firm 1–5 on each dimension. Total possible: 50 points.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1. Strategic Clarity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Can you clearly articulate what your firm does, for whom, and why it wins?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2. Risk 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Have you identified, documented, and begun mitigating your key risks?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3. Capital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Do you have a clear plan for how you would deploy growth capital?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4. Market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Do you understand your market size, competition, and growth trajectory?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5. Business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97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Is your revenue model diversified, repeatable, and documented?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6. Financial Transparency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40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Can you produce accurate, current financials on demand?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7. Leadership Depth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54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Is there a team beyond you? Would the firm survive your absence?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8. Ownership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Is equity structured clearly with documented transition mechanisms?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9. Growth Trajectory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834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Is the firm growing intentionally and sustainably?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10. Succession 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897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Could you exit in 3–5 years if you wanted to?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00000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0000"/>
                </a:solidFill>
              </a:defRPr>
            </a:pPr>
            <a:r>
              <a:t>Step 1: Go to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194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555555"/>
                </a:solidFill>
              </a:defRPr>
            </a:pPr>
            <a:r>
              <a:t>Visit the online tool. Enter your firm name. No login required. Nothing leaves your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0000"/>
                </a:solidFill>
              </a:defRPr>
            </a:pPr>
            <a:r>
              <a:t>Step 2: Work through 9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15468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555555"/>
                </a:solidFill>
              </a:defRPr>
            </a:pPr>
            <a:r>
              <a:t>Each module mirrors a section of an actual S-1 prospectus, adapted for law firm owners.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0000"/>
                </a:solidFill>
              </a:defRPr>
            </a:pPr>
            <a:r>
              <a:t>Step 3: Fill in the exercises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114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555555"/>
                </a:solidFill>
              </a:defRPr>
            </a:pPr>
            <a:r>
              <a:t>Text responses, data tables, checklists. Be honest — this is for you, not for a grade.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0000"/>
                </a:solidFill>
              </a:defRPr>
            </a:pPr>
            <a:r>
              <a:t>Step 4: Rate yourself on the Scorecard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0749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555555"/>
                </a:solidFill>
              </a:defRPr>
            </a:pPr>
            <a:r>
              <a:t>10 dimensions, rated 1–5. See where you stand on a 50-point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0000"/>
                </a:solidFill>
              </a:defRPr>
            </a:pPr>
            <a:r>
              <a:t>Step 5: Generate your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603504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555555"/>
                </a:solidFill>
              </a:defRPr>
            </a:pPr>
            <a:r>
              <a:t>One-click export creates your personal prospectus document.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00000"/>
                </a:solidFill>
              </a:defRPr>
            </a:pPr>
            <a:r>
              <a:t>What You'll Walk Away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600" b="0">
                <a:solidFill>
                  <a:srgbClr val="000000"/>
                </a:solidFill>
              </a:defRPr>
            </a:pPr>
            <a:r>
              <a:t>A complete self-assessment of your firm through nine critical business lenses</a:t>
            </a:r>
          </a:p>
          <a:p>
            <a:pPr>
              <a:spcAft>
                <a:spcPts val="2000"/>
              </a:spcAft>
              <a:defRPr sz="2600" b="0">
                <a:solidFill>
                  <a:srgbClr val="000000"/>
                </a:solidFill>
              </a:defRPr>
            </a:pPr>
            <a:r>
              <a:t>A clear-eyed view of your risks, gaps, and blind spots</a:t>
            </a:r>
          </a:p>
          <a:p>
            <a:pPr>
              <a:spcAft>
                <a:spcPts val="2000"/>
              </a:spcAft>
              <a:defRPr sz="2600" b="0">
                <a:solidFill>
                  <a:srgbClr val="000000"/>
                </a:solidFill>
              </a:defRPr>
            </a:pPr>
            <a:r>
              <a:t>Your Investment Readiness Score on a 50-point scale</a:t>
            </a:r>
          </a:p>
          <a:p>
            <a:pPr>
              <a:spcAft>
                <a:spcPts val="2000"/>
              </a:spcAft>
              <a:defRPr sz="2600" b="0">
                <a:solidFill>
                  <a:srgbClr val="000000"/>
                </a:solidFill>
              </a:defRPr>
            </a:pPr>
            <a:r>
              <a:t>A personalized PDF prospectus you can reference and revisit</a:t>
            </a:r>
          </a:p>
          <a:p>
            <a:pPr>
              <a:spcAft>
                <a:spcPts val="2000"/>
              </a:spcAft>
              <a:defRPr sz="2600" b="0">
                <a:solidFill>
                  <a:srgbClr val="000000"/>
                </a:solidFill>
              </a:defRPr>
            </a:pPr>
            <a:r>
              <a:t>A framework for making strategic decisions like an investor, not just an operator</a:t>
            </a:r>
          </a:p>
          <a:p>
            <a:pPr>
              <a:spcAft>
                <a:spcPts val="2000"/>
              </a:spcAft>
              <a:defRPr sz="2600" b="0">
                <a:solidFill>
                  <a:srgbClr val="000000"/>
                </a:solidFill>
              </a:defRPr>
            </a:pPr>
            <a:r>
              <a:t>Clarity on whether your firm is a business — or a job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000000"/>
                </a:solidFill>
              </a:defRPr>
            </a:pPr>
            <a:r>
              <a:t>Your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33333"/>
                </a:solidFill>
              </a:defRPr>
            </a:pPr>
            <a:r>
              <a:t>Open the app. Start Module 1.</a:t>
            </a:r>
            <a:br/>
            <a:r>
              <a:t>You'll see your firm differently by the time you finish.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00000"/>
                </a:solidFill>
              </a:defRPr>
            </a:pPr>
            <a:r>
              <a:t>The Investor's Lens  |  Built for Catalyst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Law Firm Alchemy LLC  |  Catalyst Coaching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